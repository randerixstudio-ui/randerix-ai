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'000)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5F0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</c:v>
                </c:pt>
                <c:pt idx="1">
                  <c:v>820</c:v>
                </c:pt>
                <c:pt idx="2">
                  <c:v>2400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5F0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2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B0A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A2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B0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bubble3D val="0"/>
            <c:spPr>
              <a:solidFill>
                <a:srgbClr val="8A7438"/>
              </a:solidFill>
              <a:effectLst/>
            </c:spPr>
          </c:dPt>
          <c:dPt>
            <c:idx val="2"/>
            <c:bubble3D val="0"/>
            <c:spPr>
              <a:solidFill>
                <a:srgbClr val="E8C97E"/>
              </a:solidFill>
              <a:effectLst/>
            </c:spPr>
          </c:dPt>
          <c:dPt>
            <c:idx val="3"/>
            <c:bubble3D val="0"/>
            <c:spPr>
              <a:solidFill>
                <a:srgbClr val="D4C5A0"/>
              </a:solidFill>
              <a:effectLst/>
            </c:spPr>
          </c:dPt>
          <c:dPt>
            <c:idx val="4"/>
            <c:bubble3D val="0"/>
            <c:spPr>
              <a:solidFill>
                <a:srgbClr val="4A403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Operations &amp; Labor</c:v>
                </c:pt>
                <c:pt idx="1">
                  <c:v>Architect Salaries</c:v>
                </c:pt>
                <c:pt idx="2">
                  <c:v>AI/Tech Infrastructure</c:v>
                </c:pt>
                <c:pt idx="3">
                  <c:v>Marketing</c:v>
                </c:pt>
                <c:pt idx="4">
                  <c:v>Admin &amp; Overhead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28</c:v>
                </c:pt>
                <c:pt idx="2">
                  <c:v>12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0A0A0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bubble3D val="0"/>
            <c:spPr>
              <a:solidFill>
                <a:srgbClr val="E8C97E"/>
              </a:solidFill>
              <a:effectLst/>
            </c:spPr>
          </c:dPt>
          <c:dPt>
            <c:idx val="2"/>
            <c:bubble3D val="0"/>
            <c:spPr>
              <a:solidFill>
                <a:srgbClr val="8A7438"/>
              </a:solidFill>
              <a:effectLst/>
            </c:spPr>
          </c:dPt>
          <c:dPt>
            <c:idx val="3"/>
            <c:bubble3D val="0"/>
            <c:spPr>
              <a:solidFill>
                <a:srgbClr val="D4C5A0"/>
              </a:solidFill>
              <a:effectLst/>
            </c:spPr>
          </c:dPt>
          <c:dPt>
            <c:idx val="4"/>
            <c:bubble3D val="0"/>
            <c:spPr>
              <a:solidFill>
                <a:srgbClr val="4A403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Team &amp; Architects (35%)</c:v>
                </c:pt>
                <c:pt idx="1">
                  <c:v>AI/Tech Development (25%)</c:v>
                </c:pt>
                <c:pt idx="2">
                  <c:v>UAE Market Entry (20%)</c:v>
                </c:pt>
                <c:pt idx="3">
                  <c:v>Marketing &amp; Growth (12%)</c:v>
                </c:pt>
                <c:pt idx="4">
                  <c:v>Operations (8%)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F5F0E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619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0857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8095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5333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 AI ARCHITECTURE PLATFORM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RANDERIX AI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40 Years of Architecture Meets Artificial Intelligence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2468880" cy="502920"/>
          </a:xfrm>
          <a:prstGeom prst="rect">
            <a:avLst/>
          </a:prstGeom>
          <a:solidFill>
            <a:srgbClr val="1C1C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72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ROUND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| 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Faisalabad, Pakistan  →  Targeting Hub71, Abu Dhabi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in Pakistan is Slow, Opaque &amp; Inaccessible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5658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Answers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wait weeks for a single consultation, cost estimate, or design concept.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210312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678" y="25658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31546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Uncertainty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9312" y="370332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self-built homes in Pakistan exceed budget by 20-40% due to poor upfront estimation.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210312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55664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5658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1546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Disconnect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9944" y="370332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Pakistanis (UAE, KSA, UK) struggle to plan &amp; supervise construction back home.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51976" y="210312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942" y="25658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31546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Market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80576" y="370332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trusted, tech-enabled platform connects clients with verified architecture expertise at scale.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+ 40 Years of Architecture Expertise, in One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 combines five instant AI tools with human architect oversight — delivering professional-grade architecture guidance in seconds, not weeks. Built bilingually for Pakistan, ready to scale into the UAE.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066544" cy="2834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31025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Estimator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17007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PKR construction cost breakdown by city, finish &amp; size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71216" y="2697480"/>
            <a:ext cx="2066544" cy="2834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99816" y="297180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575" y="31025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54096" y="365760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Floor Plan Generator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54096" y="4297680"/>
            <a:ext cx="17007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Room-by-room layouts from text — or from a hand-drawn sketch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102352" y="2697480"/>
            <a:ext cx="2066544" cy="2834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30952" y="297180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711" y="31025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85232" y="365760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Interior Advisor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85232" y="4297680"/>
            <a:ext cx="17007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design plans matched to local brands &amp; budgets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333488" y="2697480"/>
            <a:ext cx="2066544" cy="2834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62088" y="297180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847" y="310255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16368" y="365760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Consultant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16368" y="4297680"/>
            <a:ext cx="17007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chatbot trained on Pakistani codes &amp; NOC processes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564624" y="2697480"/>
            <a:ext cx="2066544" cy="2834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793224" y="297180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3983" y="3102559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47504" y="365760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Vision &amp; Elevation AI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747504" y="4297680"/>
            <a:ext cx="17007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massing + facade design briefs from sketches or specs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Question to Construction in Five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93392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DC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31939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490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Consultation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 AI chat — no obligation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87752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798064" y="2194560"/>
            <a:ext cx="1993392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980944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DC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026664" y="3063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423" y="31939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80944" y="37490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Concepts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80944" y="438912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estimate, floor plan &amp; design instantly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45736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956048" y="2194560"/>
            <a:ext cx="1993392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138928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DC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5184648" y="3063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407" y="319399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38928" y="37490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Review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138928" y="438912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Rimsha's team validates every AI 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903720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114032" y="2194560"/>
            <a:ext cx="1993392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296912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DC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7342632" y="3063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391" y="3193999"/>
            <a:ext cx="241402" cy="24140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96912" y="37490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Approval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296912" y="438912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until 100% satisfaction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061704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9272016" y="2194560"/>
            <a:ext cx="1993392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9454896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DC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Shape 28"/>
          <p:cNvSpPr/>
          <p:nvPr/>
        </p:nvSpPr>
        <p:spPr>
          <a:xfrm>
            <a:off x="9500616" y="3063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375" y="3193999"/>
            <a:ext cx="241402" cy="24140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454896" y="374904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Supervise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454896" y="438912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On-ground construction, weekly updates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$13B+ Construction Market, Still Untouched by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1828800"/>
            <a:ext cx="4754880" cy="4754880"/>
          </a:xfrm>
          <a:prstGeom prst="ellipse">
            <a:avLst/>
          </a:prstGeom>
          <a:solidFill>
            <a:srgbClr val="141414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651760"/>
            <a:ext cx="3108960" cy="3108960"/>
          </a:xfrm>
          <a:prstGeom prst="ellipse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63240" y="3429000"/>
            <a:ext cx="1554480" cy="1554480"/>
          </a:xfrm>
          <a:prstGeom prst="ellipse">
            <a:avLst/>
          </a:prstGeom>
          <a:solidFill>
            <a:srgbClr val="2A2210"/>
          </a:solidFill>
          <a:ln w="19050">
            <a:solidFill>
              <a:srgbClr val="E8C9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$13.2B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788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566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 Market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235915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+ UAE residential &amp; commercial construction spend annually (Pakistan: $11.5B, UAE: $1.7B)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Serviceable Available Market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776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homeowners &amp; overseas diaspora actively planning new construction or renovation (digitally reachable)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Serviceable Obtainable 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519379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3-year capture: 5 major Pakistani cities + UAE diaspora via AI tools &amp; referral network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AI Tools Drive Leads. Services &amp; SaaS Drive Revenue.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383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5658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Tools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Engine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estimator, floor plan AI, chatbot — zero cost, high-volume lead generation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5120640"/>
            <a:ext cx="2084832" cy="292608"/>
          </a:xfrm>
          <a:prstGeom prst="rect">
            <a:avLst/>
          </a:prstGeom>
          <a:solidFill>
            <a:srgbClr val="2A2210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12064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10712" y="2148840"/>
            <a:ext cx="2542032" cy="3383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678" y="256580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312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Services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39312" y="35204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39312" y="388620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Residential, commercial &amp; interior design — PKR 30K to PKR 2M+ per project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39312" y="5120640"/>
            <a:ext cx="2084832" cy="292608"/>
          </a:xfrm>
          <a:prstGeom prst="rect">
            <a:avLst/>
          </a:prstGeom>
          <a:solidFill>
            <a:srgbClr val="2A2210"/>
          </a:solidFill>
          <a:ln/>
        </p:spPr>
      </p:sp>
      <p:sp>
        <p:nvSpPr>
          <p:cNvPr id="19" name="Text 15"/>
          <p:cNvSpPr/>
          <p:nvPr/>
        </p:nvSpPr>
        <p:spPr>
          <a:xfrm>
            <a:off x="3639312" y="512064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revenue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81344" y="2148840"/>
            <a:ext cx="2542032" cy="3383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55664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565806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9944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Remote Consulting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09944" y="35204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Revenue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9944" y="388620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AED-priced remote consultation &amp; project management for overseas Pakistanis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409944" y="5120640"/>
            <a:ext cx="2084832" cy="292608"/>
          </a:xfrm>
          <a:prstGeom prst="rect">
            <a:avLst/>
          </a:prstGeom>
          <a:solidFill>
            <a:srgbClr val="2A2210"/>
          </a:solidFill>
          <a:ln/>
        </p:spPr>
      </p:sp>
      <p:sp>
        <p:nvSpPr>
          <p:cNvPr id="27" name="Text 22"/>
          <p:cNvSpPr/>
          <p:nvPr/>
        </p:nvSpPr>
        <p:spPr>
          <a:xfrm>
            <a:off x="6409944" y="512064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revenue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951976" y="2148840"/>
            <a:ext cx="2542032" cy="3383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226296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942" y="2565806"/>
            <a:ext cx="263347" cy="26334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80576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SaaS (Future)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9180576" y="35204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Revenue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9180576" y="388620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AI tools to other architecture firms across MENA &amp; South Asia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180576" y="5120640"/>
            <a:ext cx="2084832" cy="292608"/>
          </a:xfrm>
          <a:prstGeom prst="rect">
            <a:avLst/>
          </a:prstGeom>
          <a:solidFill>
            <a:srgbClr val="2A2210"/>
          </a:solidFill>
          <a:ln/>
        </p:spPr>
      </p:sp>
      <p:sp>
        <p:nvSpPr>
          <p:cNvPr id="35" name="Text 29"/>
          <p:cNvSpPr/>
          <p:nvPr/>
        </p:nvSpPr>
        <p:spPr>
          <a:xfrm>
            <a:off x="9180576" y="512064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revenue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Years of Trust. Now Scaling with AI.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375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2286000"/>
            <a:ext cx="33375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46888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26280" y="32461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Operating History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2286000"/>
            <a:ext cx="33375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46888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$7M+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38160" y="32461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Construction 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33375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4114800"/>
            <a:ext cx="33375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29768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26280" y="5074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 (PK, UAE, KSA)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4114800"/>
            <a:ext cx="33375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29768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138160" y="5074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Live Since 2024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Else Combines AI + Local Expertise + Trust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4023360"/>
        </p:xfrm>
        <a:graphic>
          <a:graphicData uri="http://schemas.openxmlformats.org/drawingml/2006/table">
            <a:tbl>
              <a:tblPr/>
              <a:tblGrid>
                <a:gridCol w="3017520"/>
                <a:gridCol w="1965960"/>
                <a:gridCol w="1965960"/>
                <a:gridCol w="1965960"/>
                <a:gridCol w="1965960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Randerix AI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Local Architects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Global PropTech Apps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Freelance Platforms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3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AI-Powered Tools (Free)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Pakistan-Specific Knowledge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Bilingual (Urdu + English)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Human Architect Oversight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UAE Diaspora Service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</a:rPr>
                        <a:t>40-Year Track Record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3C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Varies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3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Frontier AI, Tuned for Pakistan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93392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5081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632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365760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description or hand-drawn sketch upload (photo)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587752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98064" y="2103120"/>
            <a:ext cx="1993392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26664" y="2377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423" y="25081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30632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+ Reasoning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962656" y="365760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models interpret sketches &amp; generate structured plans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45736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956048" y="2103120"/>
            <a:ext cx="1993392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84648" y="2377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407" y="25081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30632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120640" y="365760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floor plan, 3D massing concept, cost breakdown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903720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114032" y="2103120"/>
            <a:ext cx="1993392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42632" y="2377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391" y="250819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78624" y="30632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Validation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278624" y="365760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layer before client delivery (quality assurance)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061704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272016" y="2103120"/>
            <a:ext cx="1993392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500616" y="2377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375" y="250819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36608" y="30632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Delivery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436608" y="365760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reports, bilingual summaries, WhatsApp follow-up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40080" y="5486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Differentiator: Most PropTech AI tools are generic. Randerix AI's models are tuned with Pakistani building codes, material pricing data, city-specific construction rates, and bilingual (Urdu/English) understanding.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SPOTLIGHT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Sketch to Digital Plan, 3D Concept &amp; Elevation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42032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5200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photographs their hand-drawn paper sketch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2103120"/>
            <a:ext cx="2542032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678" y="25200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31089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Reads 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352044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interprets rooms, layout &amp; proportions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81344" y="2103120"/>
            <a:ext cx="2542032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55664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5200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1089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Digital Plan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9944" y="352044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labeled floor plan with room dimensions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51976" y="2103120"/>
            <a:ext cx="2542032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942" y="25200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31089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Elevation Brief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80576" y="352044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style, materials &amp; 3D massing concept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5166360"/>
            <a:ext cx="10881360" cy="960120"/>
          </a:xfrm>
          <a:prstGeom prst="rect">
            <a:avLst/>
          </a:prstGeom>
          <a:solidFill>
            <a:srgbClr val="FAF6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feature turns a 30-minute architect meeting into a 60-second AI interaction — while still routing to human review before final delivery. It is our highest-engagement tool and strongest referral driver.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PAKISTAN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City-by-City Expansion, Powered by Free AI Acquisition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017520"/>
          </a:xfrm>
          <a:prstGeom prst="rect">
            <a:avLst/>
          </a:prstGeom>
          <a:solidFill>
            <a:srgbClr val="141414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Live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Faisalabad, Lahore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market, 40-year brand presence, existing client 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301752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Q3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926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Islamabad, Karachi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37033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drive organic leads; local partnerships for site supervision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301752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Q1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926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Multan, Rawalpindi + UAE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21040" y="37033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partnership unlocks UAE diaspora marketing channels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Acquisition: Free AI tools (SEO + WhatsApp sharing) drive organic leads, converting to paid services. Target CAC under PKR 800 per qualified lead via content marketing &amp; referral incentives.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EXPANSION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Hub71 &amp; Abu Dhabi is the Right Launchpad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17830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5081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31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1.6M+ Pakistani Diaspora in UAE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2880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expatriate group actively investing in Pakistani real estate and construction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2103120"/>
            <a:ext cx="5120640" cy="17830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25081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331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Remittance-to-Construction Flow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40880" y="2880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UAE-based Pakistanis are among the top senders of remittances earmarked for home building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120640" cy="17830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45198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Ecosystem Access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54480" y="4892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us to MENA investors, PropTech mentors, and regional expansion infrastructure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4114800"/>
            <a:ext cx="5120640" cy="178308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45198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Market Readiness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0" y="4892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UAE's digital-first culture accelerates adoption of AI-powered consultation tools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$2.4M ARR by Year 3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6217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178040" y="2103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78040" y="245059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Pakistan-only: 5 cities live, 1,200 paid projects, AI tools at 50K+ monthly users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3337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78040" y="368503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soft launch via Hub71, SaaS licensing pilot with 2 partner firms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49194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UAE presence, SaaS platform live in 3 MENA markets, 8,000+ paid projects/yr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Margins Per Project, Scalable Acquisition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42032" cy="17373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145,000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/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$520 USD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0712" y="2103120"/>
            <a:ext cx="2542032" cy="17373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23317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39312" y="2971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Gross Margin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9312" y="338328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blended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2103120"/>
            <a:ext cx="2542032" cy="17373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23317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780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9944" y="2971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9944" y="338328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free AI tools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51976" y="2103120"/>
            <a:ext cx="2542032" cy="17373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9180576" y="23317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80576" y="2971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Ratio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80576" y="338328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&amp; referral driven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 (Year 1)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40080" y="4617720"/>
          <a:ext cx="47548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035040" y="4617720"/>
            <a:ext cx="5486400" cy="1965960"/>
          </a:xfrm>
          <a:prstGeom prst="rect">
            <a:avLst/>
          </a:prstGeom>
          <a:solidFill>
            <a:srgbClr val="FAF6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475488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cost structure: AI infrastructure is a small fraction of spend, freeing capital for architect talent and city expansion. Marketing leverages free-tool virality rather than paid ad spend.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Decades of Architecture, Now Led Into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4023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68880"/>
            <a:ext cx="1371600" cy="1371600"/>
          </a:xfrm>
          <a:prstGeom prst="ellipse">
            <a:avLst/>
          </a:prstGeom>
          <a:solidFill>
            <a:srgbClr val="2A221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60604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 Rimsha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60604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Principal Architect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years building Randerix Studio from a single Faisalabad project into a 500+ project portfolio. Pioneering Pakistan's shift toward AI-augmented architecture practice.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7239" y="2325319"/>
            <a:ext cx="241402" cy="241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0" y="2212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AI/Tech Lead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66560" y="25786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— leading AI model integration &amp; product engineering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3520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39" y="365119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6656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Architects (4)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766560" y="3904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team validating and refining AI-generated outputs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484632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239" y="497707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4864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 Lead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766560" y="52303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— Hub71 partnership &amp; diaspora business development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Next: Q3 2025 to Q4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1463040" cy="3657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3148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703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Consultant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3434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voice-based AI consultation via WhatsApp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214884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2423160"/>
            <a:ext cx="1463040" cy="3657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3639312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85032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791" y="314827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9312" y="3703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Soft Launch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39312" y="43434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billing, Dubai/Abu Dhabi remote consultation team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81344" y="214884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9944" y="2423160"/>
            <a:ext cx="1463040" cy="3657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0" name="Text 16"/>
          <p:cNvSpPr/>
          <p:nvPr/>
        </p:nvSpPr>
        <p:spPr>
          <a:xfrm>
            <a:off x="6409944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55664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423" y="314827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9944" y="3703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Beta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9944" y="43434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AI tools for partner architecture firms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951976" y="2148840"/>
            <a:ext cx="2542032" cy="32918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80576" y="2423160"/>
            <a:ext cx="1463040" cy="3657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7" name="Text 22"/>
          <p:cNvSpPr/>
          <p:nvPr/>
        </p:nvSpPr>
        <p:spPr>
          <a:xfrm>
            <a:off x="9180576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226296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55" y="3148279"/>
            <a:ext cx="241402" cy="24140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80576" y="3703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Tracking App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180576" y="43434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 progress tracking for diaspora clients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$350,000 Seed 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to UAE launch and SaaS beta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6974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Architects  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26480" y="27066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AI/tech lead, 3 senior architects, UAE market lead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648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Tech Development  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348386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model capabilities, voice AI, SaaS infrastructure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12648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 Entry  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26480" y="42611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partnership, Dubai/Abu Dhabi office setup, licensing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2648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  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126480" y="503834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referral programs, diaspora community partnerships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26480" y="5486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Buffer  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581558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working capital reserve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Round Unlocks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6432" cy="1920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505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30428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99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AI/Tech lead &amp; UAE market lead hired; 3 new architects onboarded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2103120"/>
            <a:ext cx="3456432" cy="1920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4505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230428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53712" y="2926080"/>
            <a:ext cx="2999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Islamabad &amp; Karachi fully live; 50,000+ monthly AI tool users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2103120"/>
            <a:ext cx="3456432" cy="1920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4505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33104" y="230428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38744" y="2926080"/>
            <a:ext cx="2999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partnership finalized; UAE entity registered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3456432" cy="1920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480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5994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45312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5074920"/>
            <a:ext cx="2999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remote consultation team live; first AED-billed clients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4251960"/>
            <a:ext cx="3456432" cy="1920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480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59943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072" y="445312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15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53712" y="5074920"/>
            <a:ext cx="2999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beta launched with 2 partner architecture firms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4251960"/>
            <a:ext cx="3456432" cy="1920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4480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45994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33104" y="445312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38744" y="5074920"/>
            <a:ext cx="2999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$820K ARR run-rate achieved; Series A conversations begin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for AI-Native PropTech in MENA is Open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5081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31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Costs Have Collapsed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2880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AI models are now cheap and capable enough to power real-time architecture tools at scale — impossible 2 years ago.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2103120"/>
            <a:ext cx="5120640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25081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331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Pakistan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40880" y="2880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launched a comparable AI plus human-architect hybrid platform in Pakistan or for its UAE diaspora.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120640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45198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Boom Continues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54480" y="4892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urban housing demand and UAE-Pakistan remittance flows remain strong, independent of macro cycles.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26480" y="4114800"/>
            <a:ext cx="5120640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45198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Already Built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0" y="4892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 startup proving credibility from zero — Randerix brings 40 years of delivered projects and client trust.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619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0857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8095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5333" y="0"/>
            <a:ext cx="0" cy="685800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TOGETHER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Rimsha — Founder &amp; CEO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 Studio  |  Faisalabad, Pakistan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2" y="5129052"/>
            <a:ext cx="184343" cy="1843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506577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+92 329 4839897 (WhatsApp)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5532120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12" y="563197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556869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www.randerixai.com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2960" y="6035040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2" y="6134892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607161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investors@randerixai.com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772400" y="5120640"/>
            <a:ext cx="374904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01000" y="52852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 AI Architecture Platform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001000" y="5669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Hub71  -  Abu Dhabi  -  2025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001000" y="6035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RANDERIX AI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Randerix AI — Investor Pitch Deck</dc:title>
  <dc:subject>PptxGenJS Presentation</dc:subject>
  <dc:creator>Randerix AI</dc:creator>
  <cp:lastModifiedBy>Randerix AI</cp:lastModifiedBy>
  <cp:revision>1</cp:revision>
  <dcterms:created xsi:type="dcterms:W3CDTF">2026-06-30T18:40:24Z</dcterms:created>
  <dcterms:modified xsi:type="dcterms:W3CDTF">2026-06-30T18:40:24Z</dcterms:modified>
</cp:coreProperties>
</file>